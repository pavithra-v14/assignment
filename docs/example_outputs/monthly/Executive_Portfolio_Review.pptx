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1E7D32"/>
              </a:solidFill>
            </c:spPr>
          </c:dPt>
          <c:dPt>
            <c:idx val="1"/>
            <c:spPr>
              <a:solidFill>
                <a:srgbClr val="C27C0E"/>
              </a:solidFill>
            </c:spPr>
          </c:dPt>
          <c:dPt>
            <c:idx val="2"/>
            <c:spPr>
              <a:solidFill>
                <a:srgbClr val="B02828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CADCFC"/>
                </a:solidFill>
                <a:latin typeface="Calibri"/>
              </a:defRPr>
            </a:pPr>
            <a:r>
              <a:t>PMO EXECUTIVE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Cambria"/>
              </a:defRPr>
            </a:pPr>
            <a:r>
              <a:t>Portfolio Health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 i="0">
                <a:solidFill>
                  <a:srgbClr val="CADCFC"/>
                </a:solidFill>
                <a:latin typeface="Calibri"/>
              </a:defRPr>
            </a:pPr>
            <a:r>
              <a:t>Monthly synthesis across 2 active engagement(s)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CADCFC"/>
                </a:solidFill>
                <a:latin typeface="Calibri"/>
              </a:defRPr>
            </a:pPr>
            <a:r>
              <a:t>PROJECTS REVIEWED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5440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mbria"/>
              </a:defRPr>
            </a:pPr>
            <a:r>
              <a:t>45.0/100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989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CADCFC"/>
                </a:solidFill>
                <a:latin typeface="Calibri"/>
              </a:defRPr>
            </a:pPr>
            <a:r>
              <a:t>PORTFOLIO AVG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440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989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CADCFC"/>
                </a:solidFill>
                <a:latin typeface="Calibri"/>
              </a:defRPr>
            </a:pPr>
            <a:r>
              <a:t>RED-FLAGGED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440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mbria"/>
              </a:defRPr>
            </a:pPr>
            <a:r>
              <a:t>10 Jul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5989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CADCFC"/>
                </a:solidFill>
                <a:latin typeface="Calibri"/>
              </a:defRPr>
            </a:pPr>
            <a:r>
              <a:t>REPORT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Cambria"/>
              </a:defRPr>
            </a:pPr>
            <a:r>
              <a:t>Portfolio RAG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0">
                <a:solidFill>
                  <a:srgbClr val="6B6F7A"/>
                </a:solidFill>
                <a:latin typeface="Calibri"/>
              </a:defRPr>
            </a:pPr>
            <a:r>
              <a:t>Composite status is computed from schedule, milestone-progress, blocker, and data-quality signals.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48463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806440" y="160020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600200"/>
            <a:ext cx="73152" cy="1234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70992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1E2761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4231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6B6F7A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0020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600200"/>
            <a:ext cx="73152" cy="1234440"/>
          </a:xfrm>
          <a:prstGeom prst="rect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0992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1E7D32"/>
                </a:solidFill>
                <a:latin typeface="Cambria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4231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6B6F7A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0175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017520"/>
            <a:ext cx="73152" cy="1234440"/>
          </a:xfrm>
          <a:prstGeom prst="rect">
            <a:avLst/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12724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C27C0E"/>
                </a:solidFill>
                <a:latin typeface="Cambria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404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6B6F7A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0175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3017520"/>
            <a:ext cx="73152" cy="1234440"/>
          </a:xfrm>
          <a:prstGeom prst="rect">
            <a:avLst/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312724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B02828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8404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6B6F7A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52628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50" b="0">
                <a:solidFill>
                  <a:srgbClr val="6B6F7A"/>
                </a:solidFill>
                <a:latin typeface="Calibri"/>
              </a:defRPr>
            </a:pPr>
            <a:r>
              <a:t>•  Current mix: 2 Red.</a:t>
            </a:r>
          </a:p>
          <a:p>
            <a:pPr algn="l">
              <a:spcAft>
                <a:spcPts val="600"/>
              </a:spcAft>
              <a:defRPr sz="1250" b="0">
                <a:solidFill>
                  <a:srgbClr val="6B6F7A"/>
                </a:solidFill>
                <a:latin typeface="Calibri"/>
              </a:defRPr>
            </a:pPr>
            <a:r>
              <a:t>•  Status reflects schedule, milestone, and blocker health; financial/budget health is out of scope for this data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Project Health Reporting Agent  –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Cambria"/>
              </a:defRPr>
            </a:pPr>
            <a:r>
              <a:t>Project-by-Project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1091672" cy="1170432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17739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69164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1E2761"/>
                </a:solidFill>
                <a:latin typeface="Calibri"/>
              </a:defRPr>
            </a:pPr>
            <a:r>
              <a:t>Zycus - Titan S2P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84832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B6F7A"/>
                </a:solidFill>
                <a:latin typeface="Calibri"/>
              </a:defRPr>
            </a:pPr>
            <a:r>
              <a:t>Schedule Slippage: Worst task-level schedule variance is -81 day(s) on a zero-float (critical)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414016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C27C0E"/>
                </a:solidFill>
                <a:latin typeface="Calibri"/>
              </a:defRPr>
            </a:pPr>
            <a:r>
              <a:t>⚠  PM-reported status: Green — flagged for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664208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400" b="1" i="0">
                <a:solidFill>
                  <a:srgbClr val="B02828"/>
                </a:solidFill>
                <a:latin typeface="Cambria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1801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B6F7A"/>
                </a:solidFill>
                <a:latin typeface="Calibri"/>
              </a:defRPr>
            </a:pPr>
            <a:r>
              <a:t>/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212848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E1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212848"/>
            <a:ext cx="841248" cy="128016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852928"/>
            <a:ext cx="11091672" cy="1170432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3072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90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1E2761"/>
                </a:solidFill>
                <a:latin typeface="Calibri"/>
              </a:defRPr>
            </a:pPr>
            <a:r>
              <a:t>Zycus - UniSan S2P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8328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B6F7A"/>
                </a:solidFill>
                <a:latin typeface="Calibri"/>
              </a:defRPr>
            </a:pPr>
            <a:r>
              <a:t>Schedule Slippage: Worst task-level schedule variance is -2 day(s) on a zero-float (critical)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626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400" b="1" i="0">
                <a:solidFill>
                  <a:srgbClr val="B02828"/>
                </a:solidFill>
                <a:latin typeface="Cambria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099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B6F7A"/>
                </a:solidFill>
                <a:latin typeface="Calibri"/>
              </a:defRPr>
            </a:pPr>
            <a:r>
              <a:t>/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511296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E1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3511296"/>
            <a:ext cx="1051560" cy="128016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Project Health Reporting Agent  –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Cambria"/>
              </a:defRPr>
            </a:pPr>
            <a:r>
              <a:t>Emerging Risks &amp; Cross-Project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0">
                <a:solidFill>
                  <a:srgbClr val="6B6F7A"/>
                </a:solidFill>
                <a:latin typeface="Calibri"/>
              </a:defRPr>
            </a:pPr>
            <a:r>
              <a:t>Cross-project risk categories, ranked by severity — not a per-project status recap.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112242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74650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7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 i="0">
                <a:solidFill>
                  <a:srgbClr val="1E2761"/>
                </a:solidFill>
                <a:latin typeface="Calibri"/>
              </a:defRPr>
            </a:pPr>
            <a:r>
              <a:t>Critical-Path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84248"/>
            <a:ext cx="9509760" cy="528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15 critical-path (zero-float) tasks are currently slipping across 2 projects simultaneously — portfolio-wide delivery-capacity risk, not a single-project scheduling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6593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1">
                <a:solidFill>
                  <a:srgbClr val="6B6F7A"/>
                </a:solidFill>
                <a:latin typeface="Calibri"/>
              </a:defRPr>
            </a:pPr>
            <a:r>
              <a:t>Affects: Zycus - Titan S2P Implementation, Zycus - UniSan S2P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2353"/>
            <a:ext cx="11091672" cy="112242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978657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923793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 i="0">
                <a:solidFill>
                  <a:srgbClr val="1E2761"/>
                </a:solidFill>
                <a:latin typeface="Calibri"/>
              </a:defRPr>
            </a:pPr>
            <a:r>
              <a:t>Recurring Delivery 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216401"/>
            <a:ext cx="9509760" cy="528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Root cause 'critical-path slippage' appears independently across 2 projects, suggesting a shared process gap rather than isolated project execution issues.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98746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1">
                <a:solidFill>
                  <a:srgbClr val="6B6F7A"/>
                </a:solidFill>
                <a:latin typeface="Calibri"/>
              </a:defRPr>
            </a:pPr>
            <a:r>
              <a:t>Affects: Zycus - Titan S2P Implementation, Zycus - UniSan S2P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4506"/>
            <a:ext cx="11091672" cy="112242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421081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55946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 i="0">
                <a:solidFill>
                  <a:srgbClr val="1E2761"/>
                </a:solidFill>
                <a:latin typeface="Calibri"/>
              </a:defRPr>
            </a:pPr>
            <a:r>
              <a:t>Governance / Reporting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48554"/>
            <a:ext cx="9509760" cy="528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PM-reported status disagrees with the independently computed status on 1 project(s) by more than one band — a signal that self-reported status may be optimistic and should not be forwarded to clients unreviewed.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930899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1">
                <a:solidFill>
                  <a:srgbClr val="6B6F7A"/>
                </a:solidFill>
                <a:latin typeface="Calibri"/>
              </a:defRPr>
            </a:pPr>
            <a:r>
              <a:t>Affects: Zycus - Titan S2P 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96659"/>
            <a:ext cx="11091672" cy="112242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5442963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388099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 i="0">
                <a:solidFill>
                  <a:srgbClr val="1E2761"/>
                </a:solidFill>
                <a:latin typeface="Calibri"/>
              </a:defRPr>
            </a:pPr>
            <a:r>
              <a:t>Data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680707"/>
            <a:ext cx="9509760" cy="528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Core schedule fields are under 80% populated on 1 project(s) — computed RAG status on these carries reduced statistical confidence and is capped at Amber-or-worse by design.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6163052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1">
                <a:solidFill>
                  <a:srgbClr val="6B6F7A"/>
                </a:solidFill>
                <a:latin typeface="Calibri"/>
              </a:defRPr>
            </a:pPr>
            <a:r>
              <a:t>Affects: Zycus - UniSan S2P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Project Health Reporting Agent  –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1E2761"/>
                </a:solidFill>
                <a:latin typeface="Cambria"/>
              </a:defRPr>
            </a:pPr>
            <a:r>
              <a:t>Recommendations &amp; Decisions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0">
                <a:solidFill>
                  <a:srgbClr val="6B6F7A"/>
                </a:solidFill>
                <a:latin typeface="Calibri"/>
              </a:defRPr>
            </a:pPr>
            <a:r>
              <a:t>Prioritized by urgency — P1 acts this week, P3 is a systemic/process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87599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746504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P1 –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9164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Escalate Zycus - Titan S2P Implementation to delivery leadership this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029968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6B6F7A"/>
                </a:solidFill>
                <a:latin typeface="Calibri"/>
              </a:defRPr>
            </a:pPr>
            <a:r>
              <a:t>Owner: Delivery Lead  ·  Zycus - Titan S2P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249424"/>
            <a:ext cx="8595360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Schedule Slippage: Worst task-level schedule variance is -81 day(s) on a zero-float (critical)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5923"/>
            <a:ext cx="11091672" cy="87599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732227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P1 – 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77363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Escalate Zycus - UniSan S2P Implementation to delivery leadership this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015691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6B6F7A"/>
                </a:solidFill>
                <a:latin typeface="Calibri"/>
              </a:defRPr>
            </a:pPr>
            <a:r>
              <a:t>Owner: Delivery Lead  ·  Zycus - UniSan S2P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35147"/>
            <a:ext cx="8595360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Schedule Slippage: Worst task-level schedule variance is -2 day(s) on a zero-float (critical)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71646"/>
            <a:ext cx="11091672" cy="87599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3717950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B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P1 – THIS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663086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Reconcile PM-reported vs. computed status on Zycus - Titan S2P Implementation before any client-facing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001414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6B6F7A"/>
                </a:solidFill>
                <a:latin typeface="Calibri"/>
              </a:defRPr>
            </a:pPr>
            <a:r>
              <a:t>Owner: PMO / Governance  ·  Zycus - Titan S2P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220870"/>
            <a:ext cx="8595360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Source file status disagrees with independently computed RAG by more than one band.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57369"/>
            <a:ext cx="11091672" cy="87599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4703673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P2 – NEXT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64880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Institute a portfolio-wide critical-path review cadence (weekly, cross-project) rather than handling each slipping task in isolation.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987137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6B6F7A"/>
                </a:solidFill>
                <a:latin typeface="Calibri"/>
              </a:defRPr>
            </a:pPr>
            <a:r>
              <a:t>Owner: PMO / Governance  ·  Portfolio-wide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206593"/>
            <a:ext cx="8595360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15 critical-path (zero-float) tasks are currently slipping across 2 projects simultaneously — portfolio-wide delivery-capacity risk, not a single-project scheduling issue.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43092"/>
            <a:ext cx="11091672" cy="875995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568939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P3 – PROCESS 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634532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Request updated baseline/variance fields from delivery teams on projects below the data-completeness floor; low-confidence status should not be treated as final.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972860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6B6F7A"/>
                </a:solidFill>
                <a:latin typeface="Calibri"/>
              </a:defRPr>
            </a:pPr>
            <a:r>
              <a:t>Owner: PMO / Governance  ·  Zycus - UniSan S2P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6192316"/>
            <a:ext cx="8595360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Core schedule fields are under 80% populated on 1 project(s) — computed RAG status on these carries reduced statistical confidence and is capped at Amber-or-worse by design.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Project Health Reporting Agent  –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6B6F7A"/>
                </a:solidFill>
                <a:latin typeface="Calibri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